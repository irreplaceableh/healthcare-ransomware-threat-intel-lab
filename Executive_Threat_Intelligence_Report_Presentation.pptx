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93331"/>
            <a:ext cx="7772400" cy="1470025"/>
          </a:xfrm>
        </p:spPr>
        <p:txBody>
          <a:bodyPr/>
          <a:lstStyle/>
          <a:p>
            <a:r>
              <a:t>Executive Threat Intelligence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t>Ransomware Campaign Investigation – Healthcare Sector</a:t>
            </a:r>
          </a:p>
          <a:p>
            <a:r>
              <a:t>Suricata IDS Validation &amp; Threat Intelligence Integration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DB41AC-2891-83B0-F21D-B90A873A030E}"/>
              </a:ext>
            </a:extLst>
          </p:cNvPr>
          <p:cNvSpPr txBox="1"/>
          <p:nvPr/>
        </p:nvSpPr>
        <p:spPr>
          <a:xfrm>
            <a:off x="3778369" y="2679604"/>
            <a:ext cx="4572000" cy="39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 Monica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256" y="1785668"/>
            <a:ext cx="7461849" cy="43404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/>
              <a:t>This project focused on investigating a ransomware  campaign targeting the healthcare sector through structured malware analysis and threat intelligence collection.</a:t>
            </a:r>
          </a:p>
          <a:p>
            <a:pPr marL="0" indent="0">
              <a:buNone/>
            </a:pPr>
            <a:endParaRPr dirty="0"/>
          </a:p>
          <a:p>
            <a:pPr lvl="1"/>
            <a:r>
              <a:rPr dirty="0"/>
              <a:t>50 file hashes analyzed using </a:t>
            </a:r>
            <a:r>
              <a:rPr dirty="0" err="1"/>
              <a:t>VirusTotal</a:t>
            </a:r>
            <a:r>
              <a:rPr dirty="0"/>
              <a:t> API</a:t>
            </a:r>
          </a:p>
          <a:p>
            <a:pPr lvl="1"/>
            <a:r>
              <a:rPr dirty="0"/>
              <a:t>1 high-confidence malicious sample identified</a:t>
            </a:r>
          </a:p>
          <a:p>
            <a:pPr lvl="1"/>
            <a:r>
              <a:rPr dirty="0"/>
              <a:t>Associated with </a:t>
            </a:r>
            <a:r>
              <a:rPr dirty="0" err="1"/>
              <a:t>LockBit</a:t>
            </a:r>
            <a:r>
              <a:rPr dirty="0"/>
              <a:t> Ransomware Loader &amp; </a:t>
            </a:r>
            <a:r>
              <a:rPr dirty="0" err="1"/>
              <a:t>MedusaLocker</a:t>
            </a:r>
            <a:endParaRPr dirty="0"/>
          </a:p>
          <a:p>
            <a:pPr lvl="1"/>
            <a:r>
              <a:rPr dirty="0"/>
              <a:t>37 security vendor detections confirmed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875917" cy="777785"/>
          </a:xfrm>
        </p:spPr>
        <p:txBody>
          <a:bodyPr>
            <a:normAutofit fontScale="90000"/>
          </a:bodyPr>
          <a:lstStyle/>
          <a:p>
            <a:r>
              <a:rPr dirty="0"/>
              <a:t>Malware Hash Analysis – </a:t>
            </a:r>
            <a:r>
              <a:rPr dirty="0" err="1"/>
              <a:t>VirusTotal</a:t>
            </a:r>
            <a:r>
              <a:rPr dirty="0"/>
              <a:t> API </a:t>
            </a:r>
            <a:r>
              <a:rPr sz="1000" dirty="0"/>
              <a:t>Integration</a:t>
            </a:r>
          </a:p>
        </p:txBody>
      </p:sp>
      <p:pic>
        <p:nvPicPr>
          <p:cNvPr id="3" name="Picture 2" descr="Bash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372" y="2170799"/>
            <a:ext cx="5017001" cy="411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A9EE61-455B-D57E-BA3B-20CE51CFE905}"/>
              </a:ext>
            </a:extLst>
          </p:cNvPr>
          <p:cNvSpPr txBox="1"/>
          <p:nvPr/>
        </p:nvSpPr>
        <p:spPr>
          <a:xfrm>
            <a:off x="348629" y="1151475"/>
            <a:ext cx="61592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During hash analysis, one file was identified as malicious and associated with: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MedusaLocker</a:t>
            </a: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Ransomware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407"/>
            <a:ext cx="8229600" cy="1143000"/>
          </a:xfrm>
        </p:spPr>
        <p:txBody>
          <a:bodyPr/>
          <a:lstStyle/>
          <a:p>
            <a:r>
              <a:rPr dirty="0"/>
              <a:t>Suricata IDS Rule Configuration</a:t>
            </a:r>
          </a:p>
        </p:txBody>
      </p:sp>
      <p:pic>
        <p:nvPicPr>
          <p:cNvPr id="3" name="Picture 2" descr="surica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536" y="2615211"/>
            <a:ext cx="4717963" cy="411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DA34DE-ABFB-6937-707A-358907F7C8F2}"/>
              </a:ext>
            </a:extLst>
          </p:cNvPr>
          <p:cNvSpPr txBox="1"/>
          <p:nvPr/>
        </p:nvSpPr>
        <p:spPr>
          <a:xfrm>
            <a:off x="1664212" y="1035920"/>
            <a:ext cx="65740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custom Suricata detection rule was configured to: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Monitor known ransomware Command-and-Control (C2) indicators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Detect suspicious outbound traffic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Trigger alerts based on malicious IP communication</a:t>
            </a: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Controlled Network Traffic Simulation – hping3</a:t>
            </a:r>
          </a:p>
        </p:txBody>
      </p:sp>
      <p:pic>
        <p:nvPicPr>
          <p:cNvPr id="3" name="Picture 2" descr="triggerA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87" y="1837426"/>
            <a:ext cx="4252822" cy="38963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83ECEB-AB0E-E9AF-79A8-A67A06A6CA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148"/>
          <a:stretch>
            <a:fillRect/>
          </a:stretch>
        </p:blipFill>
        <p:spPr>
          <a:xfrm>
            <a:off x="5056637" y="1958196"/>
            <a:ext cx="3877189" cy="36230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396D587-F7CB-7658-6846-8CB40139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4340" y="1423358"/>
            <a:ext cx="6343370" cy="5141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CCE59C15-9D16-BAA1-9B03-2144AB947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408" y="606754"/>
            <a:ext cx="7884543" cy="1143000"/>
          </a:xfrm>
        </p:spPr>
        <p:txBody>
          <a:bodyPr>
            <a:normAutofit fontScale="90000"/>
          </a:bodyPr>
          <a:lstStyle/>
          <a:p>
            <a:r>
              <a:rPr lang="en-GB" sz="900" b="1" dirty="0"/>
              <a:t>Network Traffic Test</a:t>
            </a:r>
            <a:br>
              <a:rPr lang="en-GB" sz="900" dirty="0"/>
            </a:br>
            <a:r>
              <a:rPr lang="en-GB" sz="900" dirty="0"/>
              <a:t>Controlled network traffic was generated to simulate communication with a suspicious IP address.</a:t>
            </a:r>
            <a:br>
              <a:rPr lang="en-GB" sz="900" dirty="0"/>
            </a:br>
            <a:r>
              <a:rPr lang="en-GB" sz="900" dirty="0"/>
              <a:t>Purpose:</a:t>
            </a:r>
            <a:br>
              <a:rPr lang="en-GB" sz="900" dirty="0"/>
            </a:br>
            <a:r>
              <a:rPr lang="en-GB" sz="900" dirty="0"/>
              <a:t>Validate Suricata detection capabilities</a:t>
            </a:r>
            <a:br>
              <a:rPr lang="en-GB" sz="900" dirty="0"/>
            </a:br>
            <a:r>
              <a:rPr lang="en-GB" sz="900" dirty="0"/>
              <a:t>Confirm alert reliability</a:t>
            </a:r>
            <a:br>
              <a:rPr lang="en-GB" sz="900" dirty="0"/>
            </a:br>
            <a:r>
              <a:rPr lang="en-GB" sz="900" dirty="0"/>
              <a:t>Test rule effectiveness</a:t>
            </a:r>
            <a:br>
              <a:rPr lang="en-GB" dirty="0"/>
            </a:b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098"/>
            <a:ext cx="8229600" cy="1143000"/>
          </a:xfrm>
        </p:spPr>
        <p:txBody>
          <a:bodyPr/>
          <a:lstStyle/>
          <a:p>
            <a:r>
              <a:rPr dirty="0"/>
              <a:t>Additional IDS Alert Logs</a:t>
            </a:r>
          </a:p>
        </p:txBody>
      </p:sp>
      <p:pic>
        <p:nvPicPr>
          <p:cNvPr id="3" name="Picture 2" descr="suricata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41607"/>
            <a:ext cx="3558401" cy="29772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99DA08-4875-E21B-14D6-AF2017734B70}"/>
              </a:ext>
            </a:extLst>
          </p:cNvPr>
          <p:cNvSpPr txBox="1"/>
          <p:nvPr/>
        </p:nvSpPr>
        <p:spPr>
          <a:xfrm>
            <a:off x="2104845" y="1015706"/>
            <a:ext cx="38042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Repeated alert triggers confirmed: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Detection consistency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Rule stability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Reliability of the implemented IDS configuration</a:t>
            </a:r>
            <a:endParaRPr lang="en-GB" sz="3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F4EAAE-190B-8C64-D944-7AA013244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2973335"/>
            <a:ext cx="3260785" cy="28689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Healthcare Security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Operational disruption to clinical systems</a:t>
            </a:r>
          </a:p>
          <a:p>
            <a:pPr lvl="1"/>
            <a:r>
              <a:t>Exposure of Protected Health Information (PHI)</a:t>
            </a:r>
          </a:p>
          <a:p>
            <a:pPr lvl="1"/>
            <a:r>
              <a:t>Financial extortion and regulatory risk</a:t>
            </a:r>
          </a:p>
          <a:p>
            <a:pPr lvl="1"/>
            <a:r>
              <a:t>Double extortion tactics (encryption + data exfiltration)</a:t>
            </a:r>
          </a:p>
          <a:p>
            <a:pPr lvl="1"/>
            <a:r>
              <a:t>Critical need for proactive detection &amp;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Threat intelligence enhances ransomware detection</a:t>
            </a:r>
          </a:p>
          <a:p>
            <a:pPr lvl="1"/>
            <a:r>
              <a:t>IoC-based Suricata rules effectively detect C2 communication</a:t>
            </a:r>
          </a:p>
          <a:p>
            <a:pPr lvl="1"/>
            <a:r>
              <a:t>Controlled validation confirms IDS reliability</a:t>
            </a:r>
          </a:p>
          <a:p>
            <a:pPr lvl="1"/>
            <a:r>
              <a:t>Layered defense strengthens healthcare cybersecurity posture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244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Executive Threat Intelligence Report</vt:lpstr>
      <vt:lpstr>Executive Summary</vt:lpstr>
      <vt:lpstr>Malware Hash Analysis – VirusTotal API Integration</vt:lpstr>
      <vt:lpstr>Suricata IDS Rule Configuration</vt:lpstr>
      <vt:lpstr>Controlled Network Traffic Simulation – hping3</vt:lpstr>
      <vt:lpstr>Network Traffic Test Controlled network traffic was generated to simulate communication with a suspicious IP address. Purpose: Validate Suricata detection capabilities Confirm alert reliability Test rule effectiveness </vt:lpstr>
      <vt:lpstr>Additional IDS Alert Logs</vt:lpstr>
      <vt:lpstr>Healthcare Security Impact Analysis</vt:lpstr>
      <vt:lpstr>Strategic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MONICA IK</cp:lastModifiedBy>
  <cp:revision>3</cp:revision>
  <dcterms:created xsi:type="dcterms:W3CDTF">2013-01-27T09:14:16Z</dcterms:created>
  <dcterms:modified xsi:type="dcterms:W3CDTF">2026-02-10T00:23:06Z</dcterms:modified>
  <cp:category/>
</cp:coreProperties>
</file>